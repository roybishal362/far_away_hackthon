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Grounded (ours)</c:v>
                </c:pt>
              </c:strCache>
            </c:strRef>
          </c:tx>
          <c:spPr>
            <a:solidFill>
              <a:srgbClr val="10B981"/>
            </a:solidFill>
          </c:spPr>
          <c:cat>
            <c:strRef>
              <c:f>Sheet1!$A$2:$A$2</c:f>
              <c:strCache>
                <c:ptCount val="1"/>
                <c:pt idx="0">
                  <c:v>Factual accuracy (%)</c:v>
                </c:pt>
              </c:strCache>
            </c:strRef>
          </c:cat>
          <c:val>
            <c:numRef>
              <c:f>Sheet1!$B$2:$B$2</c:f>
              <c:numCache>
                <c:formatCode>General</c:formatCode>
                <c:ptCount val="1"/>
                <c:pt idx="0">
                  <c:v>71</c:v>
                </c:pt>
              </c:numCache>
            </c:numRef>
          </c:val>
        </c:ser>
        <c:ser>
          <c:idx val="1"/>
          <c:order val="1"/>
          <c:tx>
            <c:strRef>
              <c:f>Sheet1!$C$1</c:f>
              <c:strCache>
                <c:ptCount val="1"/>
                <c:pt idx="0">
                  <c:v>Ungrounded LLM</c:v>
                </c:pt>
              </c:strCache>
            </c:strRef>
          </c:tx>
          <c:spPr>
            <a:solidFill>
              <a:srgbClr val="E11D54"/>
            </a:solidFill>
          </c:spPr>
          <c:cat>
            <c:strRef>
              <c:f>Sheet1!$A$2:$A$2</c:f>
              <c:strCache>
                <c:ptCount val="1"/>
                <c:pt idx="0">
                  <c:v>Factual accuracy (%)</c:v>
                </c:pt>
              </c:strCache>
            </c:strRef>
          </c:cat>
          <c:val>
            <c:numRef>
              <c:f>Sheet1!$C$2:$C$2</c:f>
              <c:numCache>
                <c:formatCode>General</c:formatCode>
                <c:ptCount val="1"/>
                <c:pt idx="0">
                  <c:v>14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Kakehashi is an autonomous AI that guides Indian workers through Japan's Specified Skilled Worker visa journey. Hook the dual-government India-Japan corridor and that everything is real and cited. Keep it to 8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human: imagine a nurse in Delhi who qualifies but has no idea where to start. The info exists but is fragmented and gatekept. This is a real pain for real people — set up the impact.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current, sourced numbers. The strategic point: we're not inventing a problem — we're serving a corridor two governments signed in 2025, judged at a finale in Japan. That's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Emphasize it's one flow, fully automated after the form. Mention the chat + PDF dossier as the 'take it with you' moment.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clean layers. The point for technical judges: the brain is UI-agnostic and tool-based — every agent calls a REAL tool. The SSE stream is why you can watch agents think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all six — say 'six specialized agents, each grounded and citing sources' and point at Pathway + Jobs as examples. Contrast with a single-prompt 'AI wrapper', which FAR AWAY explicitly penalizes.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live moment. In the demo, click the Nurse persona then the Software persona and let judges SEE the plan change shape and skip steps. Most projects force everyone down one path; ours refuses and reroutes.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differentiator. Grounding takes accuracy from ~14% to ~71% and hallucinations from 6 to 0. Say the numbers are measured live in the Proof tab, and approximate (they vary slightly per run) — honesty is the brand.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Hammer 'real or nothing'. Every claim traces to a real source; missing data is shown honestly, never faked — which is exactly what FAR AWAY rewards and what most demos fail.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it looks shipped, not hacked. The 日本語 toggle is a deliberate gift to the Japanese finale judges. Mention privacy as a trust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it back to the dual-government pact. The anti-exploitation angle (free official job-matching, sending orgs optional for India) is a genuine social-impact story — lead with the worker.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messages: (1) it's engineered to extend, not a throwaway; (2) we're honest about what's live vs roadmap — judges trust honest roadmapping and catch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bridge metaphor and the four words. Invite them to try the live demo / scan the GitHub. End in under 8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0" y="2926080"/>
            <a:ext cx="457200" cy="2194560"/>
          </a:xfrm>
          <a:prstGeom prst="roundRect">
            <a:avLst/>
          </a:prstGeom>
          <a:solidFill>
            <a:srgbClr val="FF9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515600" y="2926080"/>
            <a:ext cx="457200" cy="2194560"/>
          </a:xfrm>
          <a:prstGeom prst="roundRect">
            <a:avLst/>
          </a:prstGeom>
          <a:solidFill>
            <a:srgbClr val="FF9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lock Arc 4"/>
          <p:cNvSpPr/>
          <p:nvPr/>
        </p:nvSpPr>
        <p:spPr>
          <a:xfrm>
            <a:off x="1280160" y="1828800"/>
            <a:ext cx="9692640" cy="2377440"/>
          </a:xfrm>
          <a:prstGeom prst="blockArc">
            <a:avLst/>
          </a:prstGeom>
          <a:solidFill>
            <a:srgbClr val="E11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48640"/>
            <a:ext cx="3657600" cy="457200"/>
          </a:xfrm>
          <a:prstGeom prst="rect">
            <a:avLst/>
          </a:prstGeom>
          <a:noFill/>
        </p:spPr>
        <p:txBody>
          <a:bodyPr wrap="square" anchor="ctr" lIns="88900" rIns="88900" tIns="38100" bIns="38100">
            <a:spAutoFit/>
          </a:bodyPr>
          <a:lstStyle/>
          <a:p>
            <a:pPr algn="l"/>
            <a:r>
              <a:rPr sz="1600" b="1">
                <a:solidFill>
                  <a:srgbClr val="FF9BB3"/>
                </a:solidFill>
                <a:latin typeface="Calibri"/>
              </a:rPr>
              <a:t>India  🇮🇳</a:t>
            </a:r>
          </a:p>
        </p:txBody>
      </p:sp>
      <p:sp>
        <p:nvSpPr>
          <p:cNvPr id="7" name="TextBox 6"/>
          <p:cNvSpPr txBox="1"/>
          <p:nvPr/>
        </p:nvSpPr>
        <p:spPr>
          <a:xfrm>
            <a:off x="8229600" y="548640"/>
            <a:ext cx="3657600" cy="457200"/>
          </a:xfrm>
          <a:prstGeom prst="rect">
            <a:avLst/>
          </a:prstGeom>
          <a:noFill/>
        </p:spPr>
        <p:txBody>
          <a:bodyPr wrap="square" anchor="ctr" lIns="88900" rIns="88900" tIns="38100" bIns="38100">
            <a:spAutoFit/>
          </a:bodyPr>
          <a:lstStyle/>
          <a:p>
            <a:pPr algn="r"/>
            <a:r>
              <a:rPr sz="1600" b="1">
                <a:solidFill>
                  <a:srgbClr val="FF9BB3"/>
                </a:solidFill>
                <a:latin typeface="Calibri"/>
              </a:rPr>
              <a:t>🇯🇵  Japan</a:t>
            </a:r>
          </a:p>
        </p:txBody>
      </p:sp>
      <p:sp>
        <p:nvSpPr>
          <p:cNvPr id="8" name="TextBox 7"/>
          <p:cNvSpPr txBox="1"/>
          <p:nvPr/>
        </p:nvSpPr>
        <p:spPr>
          <a:xfrm>
            <a:off x="731520" y="4160520"/>
            <a:ext cx="10698480" cy="1097280"/>
          </a:xfrm>
          <a:prstGeom prst="rect">
            <a:avLst/>
          </a:prstGeom>
          <a:noFill/>
        </p:spPr>
        <p:txBody>
          <a:bodyPr wrap="square" anchor="ctr" lIns="88900" rIns="88900" tIns="38100" bIns="38100">
            <a:spAutoFit/>
          </a:bodyPr>
          <a:lstStyle/>
          <a:p>
            <a:pPr algn="ctr"/>
            <a:r>
              <a:rPr sz="6000" b="1">
                <a:solidFill>
                  <a:srgbClr val="FFFFFF"/>
                </a:solidFill>
                <a:latin typeface="Calibri"/>
              </a:rPr>
              <a:t>Kakehashi </a:t>
            </a:r>
          </a:p>
          <a:p>
            <a:pPr algn="ctr"/>
            <a:r>
              <a:rPr sz="4200" b="0">
                <a:solidFill>
                  <a:srgbClr val="FF9BB3"/>
                </a:solidFill>
                <a:latin typeface="Calibri"/>
              </a:rPr>
              <a:t>架け橋</a:t>
            </a:r>
          </a:p>
        </p:txBody>
      </p:sp>
      <p:sp>
        <p:nvSpPr>
          <p:cNvPr id="9" name="TextBox 8"/>
          <p:cNvSpPr txBox="1"/>
          <p:nvPr/>
        </p:nvSpPr>
        <p:spPr>
          <a:xfrm>
            <a:off x="731520" y="5257800"/>
            <a:ext cx="10698480" cy="548640"/>
          </a:xfrm>
          <a:prstGeom prst="rect">
            <a:avLst/>
          </a:prstGeom>
          <a:noFill/>
        </p:spPr>
        <p:txBody>
          <a:bodyPr wrap="square" anchor="ctr" lIns="88900" rIns="88900" tIns="38100" bIns="38100">
            <a:spAutoFit/>
          </a:bodyPr>
          <a:lstStyle/>
          <a:p>
            <a:pPr algn="ctr"/>
            <a:r>
              <a:rPr sz="2300" b="0">
                <a:solidFill>
                  <a:srgbClr val="FFFFFF"/>
                </a:solidFill>
                <a:latin typeface="Calibri"/>
              </a:rPr>
              <a:t>An autonomous AI bridge for Indian workers to Japan</a:t>
            </a:r>
          </a:p>
        </p:txBody>
      </p:sp>
      <p:sp>
        <p:nvSpPr>
          <p:cNvPr id="10" name="TextBox 9"/>
          <p:cNvSpPr txBox="1"/>
          <p:nvPr/>
        </p:nvSpPr>
        <p:spPr>
          <a:xfrm>
            <a:off x="731520" y="5943600"/>
            <a:ext cx="10698480" cy="457200"/>
          </a:xfrm>
          <a:prstGeom prst="rect">
            <a:avLst/>
          </a:prstGeom>
          <a:noFill/>
        </p:spPr>
        <p:txBody>
          <a:bodyPr wrap="square" anchor="ctr" lIns="88900" rIns="88900" tIns="38100" bIns="38100">
            <a:spAutoFit/>
          </a:bodyPr>
          <a:lstStyle/>
          <a:p>
            <a:pPr algn="ctr"/>
            <a:r>
              <a:rPr sz="1300" b="0">
                <a:solidFill>
                  <a:srgbClr val="CFD0E0"/>
                </a:solidFill>
                <a:latin typeface="Calibri"/>
              </a:rPr>
              <a:t>Real data · Cited sources · Measured proof · EN / हिन्दी / 日本語   |   Theme: Agentic &amp; Autonomous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E11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E11D54"/>
                </a:solidFill>
                <a:latin typeface="Calibri"/>
              </a:rPr>
              <a:t>MOTIVATION</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The problem</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2</a:t>
            </a:r>
          </a:p>
        </p:txBody>
      </p:sp>
      <p:sp>
        <p:nvSpPr>
          <p:cNvPr id="7" name="TextBox 6"/>
          <p:cNvSpPr txBox="1"/>
          <p:nvPr/>
        </p:nvSpPr>
        <p:spPr>
          <a:xfrm>
            <a:off x="548640" y="1417320"/>
            <a:ext cx="11064240" cy="457200"/>
          </a:xfrm>
          <a:prstGeom prst="rect">
            <a:avLst/>
          </a:prstGeom>
          <a:noFill/>
        </p:spPr>
        <p:txBody>
          <a:bodyPr wrap="square" anchor="ctr" lIns="88900" rIns="88900" tIns="38100" bIns="38100">
            <a:spAutoFit/>
          </a:bodyPr>
          <a:lstStyle/>
          <a:p>
            <a:pPr algn="ctr"/>
            <a:r>
              <a:rPr sz="1600" b="0">
                <a:solidFill>
                  <a:srgbClr val="15163A"/>
                </a:solidFill>
                <a:latin typeface="Calibri"/>
              </a:rPr>
              <a:t>A worker who wants to go to Japan faces a scattered, months-long maze:</a:t>
            </a:r>
          </a:p>
        </p:txBody>
      </p:sp>
      <p:sp>
        <p:nvSpPr>
          <p:cNvPr id="8" name="Rounded Rectangle 7"/>
          <p:cNvSpPr/>
          <p:nvPr/>
        </p:nvSpPr>
        <p:spPr>
          <a:xfrm>
            <a:off x="548640" y="2103120"/>
            <a:ext cx="2606040" cy="155448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Which visa?</a:t>
            </a:r>
          </a:p>
          <a:p>
            <a:pPr algn="ctr"/>
            <a:r>
              <a:rPr sz="1200" b="0">
                <a:solidFill>
                  <a:srgbClr val="15163A"/>
                </a:solidFill>
                <a:latin typeface="Calibri"/>
              </a:rPr>
              <a:t>Am I even eligible?</a:t>
            </a:r>
          </a:p>
        </p:txBody>
      </p:sp>
      <p:sp>
        <p:nvSpPr>
          <p:cNvPr id="9" name="Rounded Rectangle 8"/>
          <p:cNvSpPr/>
          <p:nvPr/>
        </p:nvSpPr>
        <p:spPr>
          <a:xfrm>
            <a:off x="3383280" y="2103120"/>
            <a:ext cx="2606040" cy="155448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JLPT N4 bar</a:t>
            </a:r>
          </a:p>
          <a:p>
            <a:pPr algn="ctr"/>
            <a:r>
              <a:rPr sz="1200" b="0">
                <a:solidFill>
                  <a:srgbClr val="15163A"/>
                </a:solidFill>
                <a:latin typeface="Calibri"/>
              </a:rPr>
              <a:t>+ sector skills tests</a:t>
            </a:r>
          </a:p>
        </p:txBody>
      </p:sp>
      <p:sp>
        <p:nvSpPr>
          <p:cNvPr id="10" name="Rounded Rectangle 9"/>
          <p:cNvSpPr/>
          <p:nvPr/>
        </p:nvSpPr>
        <p:spPr>
          <a:xfrm>
            <a:off x="6217920" y="2103120"/>
            <a:ext cx="2606040" cy="155448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Paperwork</a:t>
            </a:r>
          </a:p>
          <a:p>
            <a:pPr algn="ctr"/>
            <a:r>
              <a:rPr sz="1200" b="0">
                <a:solidFill>
                  <a:srgbClr val="15163A"/>
                </a:solidFill>
                <a:latin typeface="Calibri"/>
              </a:rPr>
              <a:t>CoE, embassy, employer</a:t>
            </a:r>
          </a:p>
        </p:txBody>
      </p:sp>
      <p:sp>
        <p:nvSpPr>
          <p:cNvPr id="11" name="Rounded Rectangle 10"/>
          <p:cNvSpPr/>
          <p:nvPr/>
        </p:nvSpPr>
        <p:spPr>
          <a:xfrm>
            <a:off x="9052560" y="2103120"/>
            <a:ext cx="2606040" cy="155448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Middlemen</a:t>
            </a:r>
          </a:p>
          <a:p>
            <a:pPr algn="ctr"/>
            <a:r>
              <a:rPr sz="1200" b="0">
                <a:solidFill>
                  <a:srgbClr val="15163A"/>
                </a:solidFill>
                <a:latin typeface="Calibri"/>
              </a:rPr>
              <a:t>scams &amp; misinformation</a:t>
            </a:r>
          </a:p>
        </p:txBody>
      </p:sp>
      <p:sp>
        <p:nvSpPr>
          <p:cNvPr id="12" name="Rounded Rectangle 11"/>
          <p:cNvSpPr/>
          <p:nvPr/>
        </p:nvSpPr>
        <p:spPr>
          <a:xfrm>
            <a:off x="548640" y="4114800"/>
            <a:ext cx="11064240" cy="155448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1F2150"/>
                </a:solidFill>
                <a:latin typeface="Calibri"/>
              </a:rPr>
              <a:t>The information is real and public — but buried across Japanese government sites.</a:t>
            </a:r>
          </a:p>
          <a:p>
            <a:pPr algn="ctr"/>
            <a:r>
              <a:rPr sz="1400" b="0">
                <a:solidFill>
                  <a:srgbClr val="15163A"/>
                </a:solidFill>
                <a:latin typeface="Calibri"/>
              </a:rPr>
              <a:t>No single, trustworthy, personalized guide exists. That gap is what we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F2150"/>
                </a:solidFill>
                <a:latin typeface="Calibri"/>
              </a:rPr>
              <a:t>REAL-WORLD IMPACT</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Why now — a dual-government opportunity</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3</a:t>
            </a:r>
          </a:p>
        </p:txBody>
      </p:sp>
      <p:sp>
        <p:nvSpPr>
          <p:cNvPr id="7" name="Rounded Rectangle 6"/>
          <p:cNvSpPr/>
          <p:nvPr/>
        </p:nvSpPr>
        <p:spPr>
          <a:xfrm>
            <a:off x="640080" y="2011680"/>
            <a:ext cx="3429000" cy="246888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3429000" cy="1005840"/>
          </a:xfrm>
          <a:prstGeom prst="rect">
            <a:avLst/>
          </a:prstGeom>
          <a:noFill/>
        </p:spPr>
        <p:txBody>
          <a:bodyPr wrap="square" anchor="ctr" lIns="88900" rIns="88900" tIns="38100" bIns="38100">
            <a:spAutoFit/>
          </a:bodyPr>
          <a:lstStyle/>
          <a:p>
            <a:pPr algn="ctr"/>
            <a:r>
              <a:rPr sz="4600" b="1">
                <a:solidFill>
                  <a:srgbClr val="E11D54"/>
                </a:solidFill>
                <a:latin typeface="Calibri"/>
              </a:rPr>
              <a:t>50,000</a:t>
            </a:r>
          </a:p>
        </p:txBody>
      </p:sp>
      <p:sp>
        <p:nvSpPr>
          <p:cNvPr id="9" name="TextBox 8"/>
          <p:cNvSpPr txBox="1"/>
          <p:nvPr/>
        </p:nvSpPr>
        <p:spPr>
          <a:xfrm>
            <a:off x="640080" y="3383280"/>
            <a:ext cx="3429000" cy="1005840"/>
          </a:xfrm>
          <a:prstGeom prst="rect">
            <a:avLst/>
          </a:prstGeom>
          <a:noFill/>
        </p:spPr>
        <p:txBody>
          <a:bodyPr wrap="square" anchor="ctr" lIns="88900" rIns="88900" tIns="38100" bIns="38100">
            <a:spAutoFit/>
          </a:bodyPr>
          <a:lstStyle/>
          <a:p>
            <a:pPr algn="ctr"/>
            <a:r>
              <a:rPr sz="1300" b="0">
                <a:solidFill>
                  <a:srgbClr val="15163A"/>
                </a:solidFill>
                <a:latin typeface="Calibri"/>
              </a:rPr>
              <a:t>skilled Indian workers → Japan  (signed Aug-2025 pact)</a:t>
            </a:r>
          </a:p>
        </p:txBody>
      </p:sp>
      <p:sp>
        <p:nvSpPr>
          <p:cNvPr id="10" name="Rounded Rectangle 9"/>
          <p:cNvSpPr/>
          <p:nvPr/>
        </p:nvSpPr>
        <p:spPr>
          <a:xfrm>
            <a:off x="4343400" y="2011680"/>
            <a:ext cx="3429000" cy="246888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286000"/>
            <a:ext cx="3429000" cy="1005840"/>
          </a:xfrm>
          <a:prstGeom prst="rect">
            <a:avLst/>
          </a:prstGeom>
          <a:noFill/>
        </p:spPr>
        <p:txBody>
          <a:bodyPr wrap="square" anchor="ctr" lIns="88900" rIns="88900" tIns="38100" bIns="38100">
            <a:spAutoFit/>
          </a:bodyPr>
          <a:lstStyle/>
          <a:p>
            <a:pPr algn="ctr"/>
            <a:r>
              <a:rPr sz="4600" b="1">
                <a:solidFill>
                  <a:srgbClr val="FF9500"/>
                </a:solidFill>
                <a:latin typeface="Calibri"/>
              </a:rPr>
              <a:t>300,000+</a:t>
            </a:r>
          </a:p>
        </p:txBody>
      </p:sp>
      <p:sp>
        <p:nvSpPr>
          <p:cNvPr id="12" name="TextBox 11"/>
          <p:cNvSpPr txBox="1"/>
          <p:nvPr/>
        </p:nvSpPr>
        <p:spPr>
          <a:xfrm>
            <a:off x="4343400" y="3383280"/>
            <a:ext cx="3429000" cy="1005840"/>
          </a:xfrm>
          <a:prstGeom prst="rect">
            <a:avLst/>
          </a:prstGeom>
          <a:noFill/>
        </p:spPr>
        <p:txBody>
          <a:bodyPr wrap="square" anchor="ctr" lIns="88900" rIns="88900" tIns="38100" bIns="38100">
            <a:spAutoFit/>
          </a:bodyPr>
          <a:lstStyle/>
          <a:p>
            <a:pPr algn="ctr"/>
            <a:r>
              <a:rPr sz="1300" b="0">
                <a:solidFill>
                  <a:srgbClr val="15163A"/>
                </a:solidFill>
                <a:latin typeface="Calibri"/>
              </a:rPr>
              <a:t>caregivers Japan will be short  by 2035</a:t>
            </a:r>
          </a:p>
        </p:txBody>
      </p:sp>
      <p:sp>
        <p:nvSpPr>
          <p:cNvPr id="13" name="Rounded Rectangle 12"/>
          <p:cNvSpPr/>
          <p:nvPr/>
        </p:nvSpPr>
        <p:spPr>
          <a:xfrm>
            <a:off x="8046719" y="2011680"/>
            <a:ext cx="3429000" cy="246888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2286000"/>
            <a:ext cx="3429000" cy="1005840"/>
          </a:xfrm>
          <a:prstGeom prst="rect">
            <a:avLst/>
          </a:prstGeom>
          <a:noFill/>
        </p:spPr>
        <p:txBody>
          <a:bodyPr wrap="square" anchor="ctr" lIns="88900" rIns="88900" tIns="38100" bIns="38100">
            <a:spAutoFit/>
          </a:bodyPr>
          <a:lstStyle/>
          <a:p>
            <a:pPr algn="ctr"/>
            <a:r>
              <a:rPr sz="4600" b="1">
                <a:solidFill>
                  <a:srgbClr val="10B981"/>
                </a:solidFill>
                <a:latin typeface="Calibri"/>
              </a:rPr>
              <a:t>AI</a:t>
            </a:r>
          </a:p>
        </p:txBody>
      </p:sp>
      <p:sp>
        <p:nvSpPr>
          <p:cNvPr id="15" name="TextBox 14"/>
          <p:cNvSpPr txBox="1"/>
          <p:nvPr/>
        </p:nvSpPr>
        <p:spPr>
          <a:xfrm>
            <a:off x="8046719" y="3383280"/>
            <a:ext cx="3429000" cy="1005840"/>
          </a:xfrm>
          <a:prstGeom prst="rect">
            <a:avLst/>
          </a:prstGeom>
          <a:noFill/>
        </p:spPr>
        <p:txBody>
          <a:bodyPr wrap="square" anchor="ctr" lIns="88900" rIns="88900" tIns="38100" bIns="38100">
            <a:spAutoFit/>
          </a:bodyPr>
          <a:lstStyle/>
          <a:p>
            <a:pPr algn="ctr"/>
            <a:r>
              <a:rPr sz="1300" b="0">
                <a:solidFill>
                  <a:srgbClr val="15163A"/>
                </a:solidFill>
                <a:latin typeface="Calibri"/>
              </a:rPr>
              <a:t>named by BOTH govts as the tool  for 'trustworthy talent mobility'</a:t>
            </a:r>
          </a:p>
        </p:txBody>
      </p:sp>
      <p:sp>
        <p:nvSpPr>
          <p:cNvPr id="16" name="Rounded Rectangle 15"/>
          <p:cNvSpPr/>
          <p:nvPr/>
        </p:nvSpPr>
        <p:spPr>
          <a:xfrm>
            <a:off x="640080" y="4754880"/>
            <a:ext cx="10927080" cy="1005840"/>
          </a:xfrm>
          <a:prstGeom prst="round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500" b="1">
                <a:solidFill>
                  <a:srgbClr val="FFFFFF"/>
                </a:solidFill>
                <a:latin typeface="Calibri"/>
              </a:rPr>
              <a:t>Kakehashi serves the exact corridor India &amp; Japan just committed to — and the finale is in Japan.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0B981"/>
                </a:solidFill>
                <a:latin typeface="Calibri"/>
              </a:rPr>
              <a:t>THE SOLUTION</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What Kakehashi does</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4</a:t>
            </a:r>
          </a:p>
        </p:txBody>
      </p:sp>
      <p:sp>
        <p:nvSpPr>
          <p:cNvPr id="7" name="TextBox 6"/>
          <p:cNvSpPr txBox="1"/>
          <p:nvPr/>
        </p:nvSpPr>
        <p:spPr>
          <a:xfrm>
            <a:off x="548640" y="1371600"/>
            <a:ext cx="10972800" cy="457200"/>
          </a:xfrm>
          <a:prstGeom prst="rect">
            <a:avLst/>
          </a:prstGeom>
          <a:noFill/>
        </p:spPr>
        <p:txBody>
          <a:bodyPr wrap="square" anchor="ctr" lIns="88900" rIns="88900" tIns="38100" bIns="38100">
            <a:spAutoFit/>
          </a:bodyPr>
          <a:lstStyle/>
          <a:p>
            <a:pPr algn="ctr"/>
            <a:r>
              <a:rPr sz="1500" b="0">
                <a:solidFill>
                  <a:srgbClr val="15163A"/>
                </a:solidFill>
                <a:latin typeface="Calibri"/>
              </a:rPr>
              <a:t>You tell it about you (or upload your resume). Autonomous agents do the rest:</a:t>
            </a:r>
          </a:p>
        </p:txBody>
      </p:sp>
      <p:sp>
        <p:nvSpPr>
          <p:cNvPr id="8" name="Rounded Rectangle 7"/>
          <p:cNvSpPr/>
          <p:nvPr/>
        </p:nvSpPr>
        <p:spPr>
          <a:xfrm>
            <a:off x="457200" y="2286000"/>
            <a:ext cx="1554480" cy="137160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You / resume</a:t>
            </a:r>
          </a:p>
        </p:txBody>
      </p:sp>
      <p:sp>
        <p:nvSpPr>
          <p:cNvPr id="9" name="Right Arrow 8"/>
          <p:cNvSpPr/>
          <p:nvPr/>
        </p:nvSpPr>
        <p:spPr>
          <a:xfrm>
            <a:off x="2029967" y="2788920"/>
            <a:ext cx="292608" cy="365760"/>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31720" y="2286000"/>
            <a:ext cx="1554480" cy="13716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Visa pathway</a:t>
            </a:r>
          </a:p>
        </p:txBody>
      </p:sp>
      <p:sp>
        <p:nvSpPr>
          <p:cNvPr id="11" name="Right Arrow 10"/>
          <p:cNvSpPr/>
          <p:nvPr/>
        </p:nvSpPr>
        <p:spPr>
          <a:xfrm>
            <a:off x="3904487" y="2788920"/>
            <a:ext cx="292608" cy="365760"/>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06240" y="2286000"/>
            <a:ext cx="1554480" cy="13716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Real jobs</a:t>
            </a:r>
          </a:p>
        </p:txBody>
      </p:sp>
      <p:sp>
        <p:nvSpPr>
          <p:cNvPr id="13" name="Right Arrow 12"/>
          <p:cNvSpPr/>
          <p:nvPr/>
        </p:nvSpPr>
        <p:spPr>
          <a:xfrm>
            <a:off x="5779007" y="2788920"/>
            <a:ext cx="292608" cy="365760"/>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80759" y="2286000"/>
            <a:ext cx="1554480" cy="13716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Procedure + links</a:t>
            </a:r>
          </a:p>
        </p:txBody>
      </p:sp>
      <p:sp>
        <p:nvSpPr>
          <p:cNvPr id="15" name="Right Arrow 14"/>
          <p:cNvSpPr/>
          <p:nvPr/>
        </p:nvSpPr>
        <p:spPr>
          <a:xfrm>
            <a:off x="7653527" y="2788920"/>
            <a:ext cx="292608" cy="365760"/>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55279" y="2286000"/>
            <a:ext cx="1554480" cy="13716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Study plan</a:t>
            </a:r>
          </a:p>
        </p:txBody>
      </p:sp>
      <p:sp>
        <p:nvSpPr>
          <p:cNvPr id="17" name="Right Arrow 16"/>
          <p:cNvSpPr/>
          <p:nvPr/>
        </p:nvSpPr>
        <p:spPr>
          <a:xfrm>
            <a:off x="9528048" y="2788920"/>
            <a:ext cx="292608" cy="365760"/>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29800" y="2286000"/>
            <a:ext cx="1554480" cy="13716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200" b="0">
                <a:solidFill>
                  <a:srgbClr val="15163A"/>
                </a:solidFill>
                <a:latin typeface="Calibri"/>
              </a:rPr>
              <a:t>💴</a:t>
            </a:r>
          </a:p>
          <a:p>
            <a:pPr algn="ctr"/>
            <a:r>
              <a:rPr sz="1100" b="1">
                <a:solidFill>
                  <a:srgbClr val="15163A"/>
                </a:solidFill>
                <a:latin typeface="Calibri"/>
              </a:rPr>
              <a:t>Salary &amp; cost</a:t>
            </a:r>
          </a:p>
        </p:txBody>
      </p:sp>
      <p:sp>
        <p:nvSpPr>
          <p:cNvPr id="19" name="Rounded Rectangle 18"/>
          <p:cNvSpPr/>
          <p:nvPr/>
        </p:nvSpPr>
        <p:spPr>
          <a:xfrm>
            <a:off x="457200" y="4206240"/>
            <a:ext cx="11247120" cy="146304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500" b="1">
                <a:solidFill>
                  <a:srgbClr val="15163A"/>
                </a:solidFill>
                <a:latin typeface="Calibri"/>
              </a:rPr>
              <a:t>…then ask follow-ups in a grounded chat — in your language — and save / share / download the whole plan as a PDF dossier.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F2150"/>
                </a:solidFill>
                <a:latin typeface="Calibri"/>
              </a:rPr>
              <a:t>ENGINEERING DEPTH</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Architecture</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5</a:t>
            </a:r>
          </a:p>
        </p:txBody>
      </p:sp>
      <p:sp>
        <p:nvSpPr>
          <p:cNvPr id="7" name="Rounded Rectangle 6"/>
          <p:cNvSpPr/>
          <p:nvPr/>
        </p:nvSpPr>
        <p:spPr>
          <a:xfrm>
            <a:off x="640080" y="1554480"/>
            <a:ext cx="10927080" cy="82296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400" b="1">
                <a:solidFill>
                  <a:srgbClr val="1F2150"/>
                </a:solidFill>
                <a:latin typeface="Calibri"/>
              </a:rPr>
              <a:t>FRONTEND — Next.js (Home · How it works · Build my plan)</a:t>
            </a:r>
          </a:p>
        </p:txBody>
      </p:sp>
      <p:sp>
        <p:nvSpPr>
          <p:cNvPr id="8" name="Down Arrow 7"/>
          <p:cNvSpPr/>
          <p:nvPr/>
        </p:nvSpPr>
        <p:spPr>
          <a:xfrm>
            <a:off x="5852160" y="2423160"/>
            <a:ext cx="457200" cy="411480"/>
          </a:xfrm>
          <a:prstGeom prst="downArrow">
            <a:avLst/>
          </a:prstGeom>
          <a:solidFill>
            <a:srgbClr val="7070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395728"/>
            <a:ext cx="4572000" cy="457200"/>
          </a:xfrm>
          <a:prstGeom prst="rect">
            <a:avLst/>
          </a:prstGeom>
          <a:noFill/>
        </p:spPr>
        <p:txBody>
          <a:bodyPr wrap="square" anchor="ctr" lIns="88900" rIns="88900" tIns="38100" bIns="38100">
            <a:spAutoFit/>
          </a:bodyPr>
          <a:lstStyle/>
          <a:p>
            <a:pPr algn="l"/>
            <a:r>
              <a:rPr sz="1100" b="0">
                <a:solidFill>
                  <a:srgbClr val="707084"/>
                </a:solidFill>
                <a:latin typeface="Calibri"/>
              </a:rPr>
              <a:t>live agent timeline over SSE</a:t>
            </a:r>
          </a:p>
        </p:txBody>
      </p:sp>
      <p:sp>
        <p:nvSpPr>
          <p:cNvPr id="10" name="Rounded Rectangle 9"/>
          <p:cNvSpPr/>
          <p:nvPr/>
        </p:nvSpPr>
        <p:spPr>
          <a:xfrm>
            <a:off x="640080" y="2926080"/>
            <a:ext cx="10927080" cy="822960"/>
          </a:xfrm>
          <a:prstGeom prst="round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FFFFFF"/>
                </a:solidFill>
                <a:latin typeface="Calibri"/>
              </a:rPr>
              <a:t>FastAPI  —  /run · /run/stream (SSE) · /eval · /chat · /resume · /dossier · /save · /health</a:t>
            </a:r>
          </a:p>
        </p:txBody>
      </p:sp>
      <p:sp>
        <p:nvSpPr>
          <p:cNvPr id="11" name="Down Arrow 10"/>
          <p:cNvSpPr/>
          <p:nvPr/>
        </p:nvSpPr>
        <p:spPr>
          <a:xfrm>
            <a:off x="5852160" y="3794760"/>
            <a:ext cx="457200" cy="411480"/>
          </a:xfrm>
          <a:prstGeom prst="downArrow">
            <a:avLst/>
          </a:prstGeom>
          <a:solidFill>
            <a:srgbClr val="7070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297680"/>
            <a:ext cx="10927080" cy="1691640"/>
          </a:xfrm>
          <a:prstGeom prst="roundRect">
            <a:avLst/>
          </a:prstGeom>
          <a:solidFill>
            <a:srgbClr val="F4F1F7"/>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370832"/>
            <a:ext cx="5486400" cy="365760"/>
          </a:xfrm>
          <a:prstGeom prst="rect">
            <a:avLst/>
          </a:prstGeom>
          <a:noFill/>
        </p:spPr>
        <p:txBody>
          <a:bodyPr wrap="square" anchor="ctr" lIns="88900" rIns="88900" tIns="38100" bIns="38100">
            <a:spAutoFit/>
          </a:bodyPr>
          <a:lstStyle/>
          <a:p>
            <a:pPr algn="l"/>
            <a:r>
              <a:rPr sz="1200" b="1">
                <a:solidFill>
                  <a:srgbClr val="1F2150"/>
                </a:solidFill>
                <a:latin typeface="Calibri"/>
              </a:rPr>
              <a:t>core/ — UI-agnostic Python brain (engine orchestrates + adapts)</a:t>
            </a:r>
          </a:p>
        </p:txBody>
      </p:sp>
      <p:sp>
        <p:nvSpPr>
          <p:cNvPr id="14" name="Rounded Rectangle 13"/>
          <p:cNvSpPr/>
          <p:nvPr/>
        </p:nvSpPr>
        <p:spPr>
          <a:xfrm>
            <a:off x="868680" y="4800600"/>
            <a:ext cx="2468880" cy="96012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1">
                <a:solidFill>
                  <a:srgbClr val="E11D54"/>
                </a:solidFill>
                <a:latin typeface="Calibri"/>
              </a:rPr>
              <a:t>🤖 6 Agents</a:t>
            </a:r>
          </a:p>
        </p:txBody>
      </p:sp>
      <p:sp>
        <p:nvSpPr>
          <p:cNvPr id="15" name="Rounded Rectangle 14"/>
          <p:cNvSpPr/>
          <p:nvPr/>
        </p:nvSpPr>
        <p:spPr>
          <a:xfrm>
            <a:off x="3538728" y="4800600"/>
            <a:ext cx="2468880" cy="96012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1">
                <a:solidFill>
                  <a:srgbClr val="1F2150"/>
                </a:solidFill>
                <a:latin typeface="Calibri"/>
              </a:rPr>
              <a:t>🔌 Real tools JSearch · e-Stat</a:t>
            </a:r>
          </a:p>
        </p:txBody>
      </p:sp>
      <p:sp>
        <p:nvSpPr>
          <p:cNvPr id="16" name="Rounded Rectangle 15"/>
          <p:cNvSpPr/>
          <p:nvPr/>
        </p:nvSpPr>
        <p:spPr>
          <a:xfrm>
            <a:off x="6208776" y="4800600"/>
            <a:ext cx="2468880" cy="96012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1">
                <a:solidFill>
                  <a:srgbClr val="10B981"/>
                </a:solidFill>
                <a:latin typeface="Calibri"/>
              </a:rPr>
              <a:t>📚 RAG cited facts</a:t>
            </a:r>
          </a:p>
        </p:txBody>
      </p:sp>
      <p:sp>
        <p:nvSpPr>
          <p:cNvPr id="17" name="Rounded Rectangle 16"/>
          <p:cNvSpPr/>
          <p:nvPr/>
        </p:nvSpPr>
        <p:spPr>
          <a:xfrm>
            <a:off x="8878824" y="4800600"/>
            <a:ext cx="2468880" cy="960120"/>
          </a:xfrm>
          <a:prstGeom prst="roundRect">
            <a:avLst/>
          </a:prstGeom>
          <a:solidFill>
            <a:srgbClr val="FFF1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1">
                <a:solidFill>
                  <a:srgbClr val="FF9500"/>
                </a:solidFill>
                <a:latin typeface="Calibri"/>
              </a:rPr>
              <a:t>🧪 Eval ablation proof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E11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E11D54"/>
                </a:solidFill>
                <a:latin typeface="Calibri"/>
              </a:rPr>
              <a:t>HOW IT THINKS</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The multi-agent system</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6</a:t>
            </a:r>
          </a:p>
        </p:txBody>
      </p:sp>
      <p:sp>
        <p:nvSpPr>
          <p:cNvPr id="7" name="TextBox 6"/>
          <p:cNvSpPr txBox="1"/>
          <p:nvPr/>
        </p:nvSpPr>
        <p:spPr>
          <a:xfrm>
            <a:off x="548640" y="1371600"/>
            <a:ext cx="10972800" cy="411480"/>
          </a:xfrm>
          <a:prstGeom prst="rect">
            <a:avLst/>
          </a:prstGeom>
          <a:noFill/>
        </p:spPr>
        <p:txBody>
          <a:bodyPr wrap="square" anchor="ctr" lIns="88900" rIns="88900" tIns="38100" bIns="38100">
            <a:spAutoFit/>
          </a:bodyPr>
          <a:lstStyle/>
          <a:p>
            <a:pPr algn="ctr"/>
            <a:r>
              <a:rPr sz="1500" b="1">
                <a:solidFill>
                  <a:srgbClr val="1F2150"/>
                </a:solidFill>
                <a:latin typeface="Calibri"/>
              </a:rPr>
              <a:t>Each agent:  reason  →  call a real tool  →  cite the source  →  score confidence</a:t>
            </a:r>
          </a:p>
        </p:txBody>
      </p:sp>
      <p:sp>
        <p:nvSpPr>
          <p:cNvPr id="8" name="Rounded Rectangle 7"/>
          <p:cNvSpPr/>
          <p:nvPr/>
        </p:nvSpPr>
        <p:spPr>
          <a:xfrm>
            <a:off x="548640" y="205740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Pathway</a:t>
            </a:r>
          </a:p>
          <a:p>
            <a:pPr algn="ctr"/>
            <a:r>
              <a:rPr sz="1200" b="0">
                <a:solidFill>
                  <a:srgbClr val="15163A"/>
                </a:solidFill>
                <a:latin typeface="Calibri"/>
              </a:rPr>
              <a:t>right visa + verdict, readiness, gaps (cited)</a:t>
            </a:r>
          </a:p>
        </p:txBody>
      </p:sp>
      <p:sp>
        <p:nvSpPr>
          <p:cNvPr id="9" name="Rounded Rectangle 8"/>
          <p:cNvSpPr/>
          <p:nvPr/>
        </p:nvSpPr>
        <p:spPr>
          <a:xfrm>
            <a:off x="4251959" y="205740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Jobs</a:t>
            </a:r>
          </a:p>
          <a:p>
            <a:pPr algn="ctr"/>
            <a:r>
              <a:rPr sz="1200" b="0">
                <a:solidFill>
                  <a:srgbClr val="15163A"/>
                </a:solidFill>
                <a:latin typeface="Calibri"/>
              </a:rPr>
              <a:t>real live openings, ranked by fit to you</a:t>
            </a:r>
          </a:p>
        </p:txBody>
      </p:sp>
      <p:sp>
        <p:nvSpPr>
          <p:cNvPr id="10" name="Rounded Rectangle 9"/>
          <p:cNvSpPr/>
          <p:nvPr/>
        </p:nvSpPr>
        <p:spPr>
          <a:xfrm>
            <a:off x="7955279" y="205740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Procedure</a:t>
            </a:r>
          </a:p>
          <a:p>
            <a:pPr algn="ctr"/>
            <a:r>
              <a:rPr sz="1200" b="0">
                <a:solidFill>
                  <a:srgbClr val="15163A"/>
                </a:solidFill>
                <a:latin typeface="Calibri"/>
              </a:rPr>
              <a:t>official steps, each with a real gov link</a:t>
            </a:r>
          </a:p>
        </p:txBody>
      </p:sp>
      <p:sp>
        <p:nvSpPr>
          <p:cNvPr id="11" name="Rounded Rectangle 10"/>
          <p:cNvSpPr/>
          <p:nvPr/>
        </p:nvSpPr>
        <p:spPr>
          <a:xfrm>
            <a:off x="548640" y="379476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Prep</a:t>
            </a:r>
          </a:p>
          <a:p>
            <a:pPr algn="ctr"/>
            <a:r>
              <a:rPr sz="1200" b="0">
                <a:solidFill>
                  <a:srgbClr val="15163A"/>
                </a:solidFill>
                <a:latin typeface="Calibri"/>
              </a:rPr>
              <a:t>study plan for your level + free resources</a:t>
            </a:r>
          </a:p>
        </p:txBody>
      </p:sp>
      <p:sp>
        <p:nvSpPr>
          <p:cNvPr id="12" name="Rounded Rectangle 11"/>
          <p:cNvSpPr/>
          <p:nvPr/>
        </p:nvSpPr>
        <p:spPr>
          <a:xfrm>
            <a:off x="4251959" y="379476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Synthesis</a:t>
            </a:r>
          </a:p>
          <a:p>
            <a:pPr algn="ctr"/>
            <a:r>
              <a:rPr sz="1200" b="0">
                <a:solidFill>
                  <a:srgbClr val="15163A"/>
                </a:solidFill>
                <a:latin typeface="Calibri"/>
              </a:rPr>
              <a:t>your overview + salary + cost</a:t>
            </a:r>
          </a:p>
        </p:txBody>
      </p:sp>
      <p:sp>
        <p:nvSpPr>
          <p:cNvPr id="13" name="Rounded Rectangle 12"/>
          <p:cNvSpPr/>
          <p:nvPr/>
        </p:nvSpPr>
        <p:spPr>
          <a:xfrm>
            <a:off x="7955279" y="3794760"/>
            <a:ext cx="3474720" cy="150876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Chat</a:t>
            </a:r>
          </a:p>
          <a:p>
            <a:pPr algn="ctr"/>
            <a:r>
              <a:rPr sz="1200" b="0">
                <a:solidFill>
                  <a:srgbClr val="15163A"/>
                </a:solidFill>
                <a:latin typeface="Calibri"/>
              </a:rPr>
              <a:t>grounded follow-up Q&amp;A, with citations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FF9500"/>
                </a:solidFill>
                <a:latin typeface="Calibri"/>
              </a:rPr>
              <a:t>THE 'WOW'</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Autonomy in action — the plan adapts to YOU</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7</a:t>
            </a:r>
          </a:p>
        </p:txBody>
      </p:sp>
      <p:sp>
        <p:nvSpPr>
          <p:cNvPr id="7" name="Rounded Rectangle 6"/>
          <p:cNvSpPr/>
          <p:nvPr/>
        </p:nvSpPr>
        <p:spPr>
          <a:xfrm>
            <a:off x="4663440" y="1554480"/>
            <a:ext cx="2834640" cy="822960"/>
          </a:xfrm>
          <a:prstGeom prst="round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400" b="1">
                <a:solidFill>
                  <a:srgbClr val="FFFFFF"/>
                </a:solidFill>
                <a:latin typeface="Calibri"/>
              </a:rPr>
              <a:t>Profile → Orchestrator</a:t>
            </a:r>
          </a:p>
          <a:p>
            <a:pPr algn="ctr"/>
            <a:r>
              <a:rPr sz="1000" b="0">
                <a:solidFill>
                  <a:srgbClr val="FF9BB3"/>
                </a:solidFill>
                <a:latin typeface="Calibri"/>
              </a:rPr>
              <a:t>classifies your visa route</a:t>
            </a:r>
          </a:p>
        </p:txBody>
      </p:sp>
      <p:sp>
        <p:nvSpPr>
          <p:cNvPr id="8" name="Down Arrow 7"/>
          <p:cNvSpPr/>
          <p:nvPr/>
        </p:nvSpPr>
        <p:spPr>
          <a:xfrm>
            <a:off x="2148839" y="2468880"/>
            <a:ext cx="365760" cy="411480"/>
          </a:xfrm>
          <a:prstGeom prst="downArrow">
            <a:avLst/>
          </a:prstGeom>
          <a:solidFill>
            <a:srgbClr val="7070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971800"/>
            <a:ext cx="3429000" cy="1828800"/>
          </a:xfrm>
          <a:prstGeom prst="roundRect">
            <a:avLst/>
          </a:prstGeom>
          <a:solidFill>
            <a:srgbClr val="E3F7F0"/>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10B981"/>
                </a:solidFill>
                <a:latin typeface="Calibri"/>
              </a:rPr>
              <a:t>👩‍⚕️ Nurse</a:t>
            </a:r>
          </a:p>
          <a:p>
            <a:pPr algn="ctr"/>
            <a:r>
              <a:rPr sz="1200" b="0">
                <a:solidFill>
                  <a:srgbClr val="15163A"/>
                </a:solidFill>
                <a:latin typeface="Calibri"/>
              </a:rPr>
              <a:t>SSW caregiving — FULL plan: jobs · procedure · study · cost</a:t>
            </a:r>
          </a:p>
        </p:txBody>
      </p:sp>
      <p:sp>
        <p:nvSpPr>
          <p:cNvPr id="10" name="Down Arrow 9"/>
          <p:cNvSpPr/>
          <p:nvPr/>
        </p:nvSpPr>
        <p:spPr>
          <a:xfrm>
            <a:off x="5852160" y="2468880"/>
            <a:ext cx="365760" cy="411480"/>
          </a:xfrm>
          <a:prstGeom prst="downArrow">
            <a:avLst/>
          </a:prstGeom>
          <a:solidFill>
            <a:srgbClr val="7070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2971800"/>
            <a:ext cx="3429000" cy="1828800"/>
          </a:xfrm>
          <a:prstGeom prst="roundRect">
            <a:avLst/>
          </a:prstGeom>
          <a:solidFill>
            <a:srgbClr val="FCE7ED"/>
          </a:solidFill>
          <a:ln w="15875">
            <a:solidFill>
              <a:srgbClr val="E11D5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E11D54"/>
                </a:solidFill>
                <a:latin typeface="Calibri"/>
              </a:rPr>
              <a:t>👨‍💻 Software eng.</a:t>
            </a:r>
          </a:p>
          <a:p>
            <a:pPr algn="ctr"/>
            <a:r>
              <a:rPr sz="1200" b="0">
                <a:solidFill>
                  <a:srgbClr val="15163A"/>
                </a:solidFill>
                <a:latin typeface="Calibri"/>
              </a:rPr>
              <a:t>Reroutes to ENGINEER visa — SSW-only steps auto-skipped</a:t>
            </a:r>
          </a:p>
        </p:txBody>
      </p:sp>
      <p:sp>
        <p:nvSpPr>
          <p:cNvPr id="12" name="Down Arrow 11"/>
          <p:cNvSpPr/>
          <p:nvPr/>
        </p:nvSpPr>
        <p:spPr>
          <a:xfrm>
            <a:off x="9555480" y="2468880"/>
            <a:ext cx="365760" cy="411480"/>
          </a:xfrm>
          <a:prstGeom prst="downArrow">
            <a:avLst/>
          </a:prstGeom>
          <a:solidFill>
            <a:srgbClr val="7070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19" y="2971800"/>
            <a:ext cx="3429000" cy="1828800"/>
          </a:xfrm>
          <a:prstGeom prst="roundRect">
            <a:avLst/>
          </a:prstGeom>
          <a:solidFill>
            <a:srgbClr val="FFF1DE"/>
          </a:solidFill>
          <a:ln w="15875">
            <a:solidFill>
              <a:srgbClr val="FF950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600" b="1">
                <a:solidFill>
                  <a:srgbClr val="FF9500"/>
                </a:solidFill>
                <a:latin typeface="Calibri"/>
              </a:rPr>
              <a:t>🧑‍💼 HR / office</a:t>
            </a:r>
          </a:p>
          <a:p>
            <a:pPr algn="ctr"/>
            <a:r>
              <a:rPr sz="1200" b="0">
                <a:solidFill>
                  <a:srgbClr val="15163A"/>
                </a:solidFill>
                <a:latin typeface="Calibri"/>
              </a:rPr>
              <a:t>Reroutes to SPECIALIST visa (技人国)</a:t>
            </a:r>
          </a:p>
        </p:txBody>
      </p:sp>
      <p:sp>
        <p:nvSpPr>
          <p:cNvPr id="14" name="Rounded Rectangle 13"/>
          <p:cNvSpPr/>
          <p:nvPr/>
        </p:nvSpPr>
        <p:spPr>
          <a:xfrm>
            <a:off x="640080" y="5029200"/>
            <a:ext cx="10927080" cy="868680"/>
          </a:xfrm>
          <a:prstGeom prst="round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400" b="1">
                <a:solidFill>
                  <a:srgbClr val="FFFFFF"/>
                </a:solidFill>
                <a:latin typeface="Calibri"/>
              </a:rPr>
              <a:t>Different person → different plan. The agent DECIDES — and even refuses SSW when it doesn't fit. That's real autonomy.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0B981"/>
                </a:solidFill>
                <a:latin typeface="Calibri"/>
              </a:rPr>
              <a:t>MEASURED</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Proof, not claims</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8</a:t>
            </a:r>
          </a:p>
        </p:txBody>
      </p:sp>
      <p:sp>
        <p:nvSpPr>
          <p:cNvPr id="7" name="TextBox 6"/>
          <p:cNvSpPr txBox="1"/>
          <p:nvPr/>
        </p:nvSpPr>
        <p:spPr>
          <a:xfrm>
            <a:off x="548640" y="1371600"/>
            <a:ext cx="10972800" cy="411480"/>
          </a:xfrm>
          <a:prstGeom prst="rect">
            <a:avLst/>
          </a:prstGeom>
          <a:noFill/>
        </p:spPr>
        <p:txBody>
          <a:bodyPr wrap="square" anchor="ctr" lIns="88900" rIns="88900" tIns="38100" bIns="38100">
            <a:spAutoFit/>
          </a:bodyPr>
          <a:lstStyle/>
          <a:p>
            <a:pPr algn="ctr"/>
            <a:r>
              <a:rPr sz="1400" b="0">
                <a:solidFill>
                  <a:srgbClr val="15163A"/>
                </a:solidFill>
                <a:latin typeface="Calibri"/>
              </a:rPr>
              <a:t>Same question, grounded (our agents) vs. ungrounded (plain LLM), scored against a gold set of official facts.</a:t>
            </a:r>
          </a:p>
        </p:txBody>
      </p:sp>
      <p:graphicFrame>
        <p:nvGraphicFramePr>
          <p:cNvPr id="8" name="Chart 7"/>
          <p:cNvGraphicFramePr>
            <a:graphicFrameLocks noGrp="1"/>
          </p:cNvGraphicFramePr>
          <p:nvPr/>
        </p:nvGraphicFramePr>
        <p:xfrm>
          <a:off x="640080" y="2011680"/>
          <a:ext cx="6035040" cy="4023360"/>
        </p:xfrm>
        <a:graphic>
          <a:graphicData uri="http://schemas.openxmlformats.org/drawingml/2006/chart">
            <c:chart xmlns:c="http://schemas.openxmlformats.org/drawingml/2006/chart" r:id="rId2"/>
          </a:graphicData>
        </a:graphic>
      </p:graphicFrame>
      <p:sp>
        <p:nvSpPr>
          <p:cNvPr id="9" name="Rounded Rectangle 8"/>
          <p:cNvSpPr/>
          <p:nvPr/>
        </p:nvSpPr>
        <p:spPr>
          <a:xfrm>
            <a:off x="7040880" y="2194560"/>
            <a:ext cx="4480560" cy="17373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4400" b="1">
                <a:solidFill>
                  <a:srgbClr val="10B981"/>
                </a:solidFill>
                <a:latin typeface="Calibri"/>
              </a:rPr>
              <a:t>0</a:t>
            </a:r>
          </a:p>
          <a:p>
            <a:pPr algn="ctr"/>
            <a:r>
              <a:rPr sz="1300" b="0">
                <a:solidFill>
                  <a:srgbClr val="15163A"/>
                </a:solidFill>
                <a:latin typeface="Calibri"/>
              </a:rPr>
              <a:t>hallucinations — our grounded agents</a:t>
            </a:r>
          </a:p>
        </p:txBody>
      </p:sp>
      <p:sp>
        <p:nvSpPr>
          <p:cNvPr id="10" name="Rounded Rectangle 9"/>
          <p:cNvSpPr/>
          <p:nvPr/>
        </p:nvSpPr>
        <p:spPr>
          <a:xfrm>
            <a:off x="7040880" y="4114800"/>
            <a:ext cx="4480560" cy="173736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4400" b="1">
                <a:solidFill>
                  <a:srgbClr val="E11D54"/>
                </a:solidFill>
                <a:latin typeface="Calibri"/>
              </a:rPr>
              <a:t>6</a:t>
            </a:r>
          </a:p>
          <a:p>
            <a:pPr algn="ctr"/>
            <a:r>
              <a:rPr sz="1300" b="0">
                <a:solidFill>
                  <a:srgbClr val="15163A"/>
                </a:solidFill>
                <a:latin typeface="Calibri"/>
              </a:rPr>
              <a:t>hallucinations — plain LLM (contradicts official facts)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F2150"/>
                </a:solidFill>
                <a:latin typeface="Calibri"/>
              </a:rPr>
              <a:t>REAL OR NOTHING</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Built on real data</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9</a:t>
            </a:r>
          </a:p>
        </p:txBody>
      </p:sp>
      <p:sp>
        <p:nvSpPr>
          <p:cNvPr id="7" name="Rounded Rectangle 6"/>
          <p:cNvSpPr/>
          <p:nvPr/>
        </p:nvSpPr>
        <p:spPr>
          <a:xfrm>
            <a:off x="640080" y="1828800"/>
            <a:ext cx="3657600" cy="82296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SSW rules &amp; procedures</a:t>
            </a:r>
          </a:p>
        </p:txBody>
      </p:sp>
      <p:sp>
        <p:nvSpPr>
          <p:cNvPr id="8" name="Right Arrow 7"/>
          <p:cNvSpPr/>
          <p:nvPr/>
        </p:nvSpPr>
        <p:spPr>
          <a:xfrm>
            <a:off x="4389120" y="2075688"/>
            <a:ext cx="320040" cy="329184"/>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46320" y="1828800"/>
            <a:ext cx="4206240" cy="822960"/>
          </a:xfrm>
          <a:prstGeom prst="roundRect">
            <a:avLst/>
          </a:prstGeom>
          <a:solidFill>
            <a:srgbClr val="F4F1F7"/>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0">
                <a:solidFill>
                  <a:srgbClr val="15163A"/>
                </a:solidFill>
                <a:latin typeface="Calibri"/>
              </a:rPr>
              <a:t>official ssw.go.jp (ISA) + MOFA</a:t>
            </a:r>
          </a:p>
        </p:txBody>
      </p:sp>
      <p:sp>
        <p:nvSpPr>
          <p:cNvPr id="10" name="Rounded Rectangle 9"/>
          <p:cNvSpPr/>
          <p:nvPr/>
        </p:nvSpPr>
        <p:spPr>
          <a:xfrm>
            <a:off x="9144000" y="1828800"/>
            <a:ext cx="2377440" cy="8229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100" b="1">
                <a:solidFill>
                  <a:srgbClr val="10B981"/>
                </a:solidFill>
                <a:latin typeface="Calibri"/>
              </a:rPr>
              <a:t>grounded &amp; cited (RAG)</a:t>
            </a:r>
          </a:p>
        </p:txBody>
      </p:sp>
      <p:sp>
        <p:nvSpPr>
          <p:cNvPr id="11" name="Rounded Rectangle 10"/>
          <p:cNvSpPr/>
          <p:nvPr/>
        </p:nvSpPr>
        <p:spPr>
          <a:xfrm>
            <a:off x="640080" y="2788920"/>
            <a:ext cx="3657600" cy="82296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Live job openings</a:t>
            </a:r>
          </a:p>
        </p:txBody>
      </p:sp>
      <p:sp>
        <p:nvSpPr>
          <p:cNvPr id="12" name="Right Arrow 11"/>
          <p:cNvSpPr/>
          <p:nvPr/>
        </p:nvSpPr>
        <p:spPr>
          <a:xfrm>
            <a:off x="4389120" y="3035808"/>
            <a:ext cx="320040" cy="329184"/>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46320" y="2788920"/>
            <a:ext cx="4206240" cy="822960"/>
          </a:xfrm>
          <a:prstGeom prst="roundRect">
            <a:avLst/>
          </a:prstGeom>
          <a:solidFill>
            <a:srgbClr val="F4F1F7"/>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0">
                <a:solidFill>
                  <a:srgbClr val="15163A"/>
                </a:solidFill>
                <a:latin typeface="Calibri"/>
              </a:rPr>
              <a:t>JSearch real-time API</a:t>
            </a:r>
          </a:p>
        </p:txBody>
      </p:sp>
      <p:sp>
        <p:nvSpPr>
          <p:cNvPr id="14" name="Rounded Rectangle 13"/>
          <p:cNvSpPr/>
          <p:nvPr/>
        </p:nvSpPr>
        <p:spPr>
          <a:xfrm>
            <a:off x="9144000" y="2788920"/>
            <a:ext cx="2377440" cy="8229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100" b="1">
                <a:solidFill>
                  <a:srgbClr val="10B981"/>
                </a:solidFill>
                <a:latin typeface="Calibri"/>
              </a:rPr>
              <a:t>ranked by fit</a:t>
            </a:r>
          </a:p>
        </p:txBody>
      </p:sp>
      <p:sp>
        <p:nvSpPr>
          <p:cNvPr id="15" name="Rounded Rectangle 14"/>
          <p:cNvSpPr/>
          <p:nvPr/>
        </p:nvSpPr>
        <p:spPr>
          <a:xfrm>
            <a:off x="640080" y="3749039"/>
            <a:ext cx="3657600" cy="82296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Government labour stats</a:t>
            </a:r>
          </a:p>
        </p:txBody>
      </p:sp>
      <p:sp>
        <p:nvSpPr>
          <p:cNvPr id="16" name="Right Arrow 15"/>
          <p:cNvSpPr/>
          <p:nvPr/>
        </p:nvSpPr>
        <p:spPr>
          <a:xfrm>
            <a:off x="4389120" y="3995927"/>
            <a:ext cx="320040" cy="329184"/>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46320" y="3749039"/>
            <a:ext cx="4206240" cy="822960"/>
          </a:xfrm>
          <a:prstGeom prst="roundRect">
            <a:avLst/>
          </a:prstGeom>
          <a:solidFill>
            <a:srgbClr val="F4F1F7"/>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0">
                <a:solidFill>
                  <a:srgbClr val="15163A"/>
                </a:solidFill>
                <a:latin typeface="Calibri"/>
              </a:rPr>
              <a:t>Japan e-Stat official API</a:t>
            </a:r>
          </a:p>
        </p:txBody>
      </p:sp>
      <p:sp>
        <p:nvSpPr>
          <p:cNvPr id="18" name="Rounded Rectangle 17"/>
          <p:cNvSpPr/>
          <p:nvPr/>
        </p:nvSpPr>
        <p:spPr>
          <a:xfrm>
            <a:off x="9144000" y="3749039"/>
            <a:ext cx="2377440" cy="8229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100" b="1">
                <a:solidFill>
                  <a:srgbClr val="10B981"/>
                </a:solidFill>
                <a:latin typeface="Calibri"/>
              </a:rPr>
              <a:t>authoritative</a:t>
            </a:r>
          </a:p>
        </p:txBody>
      </p:sp>
      <p:sp>
        <p:nvSpPr>
          <p:cNvPr id="19" name="Rounded Rectangle 18"/>
          <p:cNvSpPr/>
          <p:nvPr/>
        </p:nvSpPr>
        <p:spPr>
          <a:xfrm>
            <a:off x="640080" y="4709160"/>
            <a:ext cx="3657600" cy="82296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Fees &amp; salaries</a:t>
            </a:r>
          </a:p>
        </p:txBody>
      </p:sp>
      <p:sp>
        <p:nvSpPr>
          <p:cNvPr id="20" name="Right Arrow 19"/>
          <p:cNvSpPr/>
          <p:nvPr/>
        </p:nvSpPr>
        <p:spPr>
          <a:xfrm>
            <a:off x="4389120" y="4956048"/>
            <a:ext cx="320040" cy="329184"/>
          </a:xfrm>
          <a:prstGeom prst="rightArrow">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846320" y="4709160"/>
            <a:ext cx="4206240" cy="822960"/>
          </a:xfrm>
          <a:prstGeom prst="roundRect">
            <a:avLst/>
          </a:prstGeom>
          <a:solidFill>
            <a:srgbClr val="F4F1F7"/>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200" b="0">
                <a:solidFill>
                  <a:srgbClr val="15163A"/>
                </a:solidFill>
                <a:latin typeface="Calibri"/>
              </a:rPr>
              <a:t>Prometric · JLPT · JFT + research</a:t>
            </a:r>
          </a:p>
        </p:txBody>
      </p:sp>
      <p:sp>
        <p:nvSpPr>
          <p:cNvPr id="22" name="Rounded Rectangle 21"/>
          <p:cNvSpPr/>
          <p:nvPr/>
        </p:nvSpPr>
        <p:spPr>
          <a:xfrm>
            <a:off x="9144000" y="4709160"/>
            <a:ext cx="2377440" cy="8229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100" b="1">
                <a:solidFill>
                  <a:srgbClr val="10B981"/>
                </a:solidFill>
                <a:latin typeface="Calibri"/>
              </a:rPr>
              <a:t>sourced</a:t>
            </a:r>
          </a:p>
        </p:txBody>
      </p:sp>
      <p:sp>
        <p:nvSpPr>
          <p:cNvPr id="23" name="TextBox 22"/>
          <p:cNvSpPr txBox="1"/>
          <p:nvPr/>
        </p:nvSpPr>
        <p:spPr>
          <a:xfrm>
            <a:off x="640080" y="5806440"/>
            <a:ext cx="10972800" cy="457200"/>
          </a:xfrm>
          <a:prstGeom prst="rect">
            <a:avLst/>
          </a:prstGeom>
          <a:noFill/>
        </p:spPr>
        <p:txBody>
          <a:bodyPr wrap="square" anchor="ctr" lIns="88900" rIns="88900" tIns="38100" bIns="38100">
            <a:spAutoFit/>
          </a:bodyPr>
          <a:lstStyle/>
          <a:p>
            <a:pPr algn="ctr"/>
            <a:r>
              <a:rPr sz="1400" b="1">
                <a:solidFill>
                  <a:srgbClr val="E11D54"/>
                </a:solidFill>
                <a:latin typeface="Calibri"/>
              </a:rPr>
              <a:t>No key → the tool says 'not configured'. It never invents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E11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E11D54"/>
                </a:solidFill>
                <a:latin typeface="Calibri"/>
              </a:rPr>
              <a:t>DESIGN &amp; EXECUTION</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A real product, not a demo</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10</a:t>
            </a:r>
          </a:p>
        </p:txBody>
      </p:sp>
      <p:sp>
        <p:nvSpPr>
          <p:cNvPr id="7" name="TextBox 6"/>
          <p:cNvSpPr txBox="1"/>
          <p:nvPr/>
        </p:nvSpPr>
        <p:spPr>
          <a:xfrm>
            <a:off x="548640" y="1371600"/>
            <a:ext cx="10972800" cy="365760"/>
          </a:xfrm>
          <a:prstGeom prst="rect">
            <a:avLst/>
          </a:prstGeom>
          <a:noFill/>
        </p:spPr>
        <p:txBody>
          <a:bodyPr wrap="square" anchor="ctr" lIns="88900" rIns="88900" tIns="38100" bIns="38100">
            <a:spAutoFit/>
          </a:bodyPr>
          <a:lstStyle/>
          <a:p>
            <a:pPr algn="ctr"/>
            <a:r>
              <a:rPr sz="1400" b="0">
                <a:solidFill>
                  <a:srgbClr val="15163A"/>
                </a:solidFill>
                <a:latin typeface="Calibri"/>
              </a:rPr>
              <a:t>Multi-page site · 8 result tabs · resume auto-fill · save/share link · PDF dossier · progress checklist</a:t>
            </a:r>
          </a:p>
        </p:txBody>
      </p:sp>
      <p:sp>
        <p:nvSpPr>
          <p:cNvPr id="8" name="Rounded Rectangle 7"/>
          <p:cNvSpPr/>
          <p:nvPr/>
        </p:nvSpPr>
        <p:spPr>
          <a:xfrm>
            <a:off x="640080" y="201168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Overview</a:t>
            </a:r>
          </a:p>
        </p:txBody>
      </p:sp>
      <p:sp>
        <p:nvSpPr>
          <p:cNvPr id="9" name="Rounded Rectangle 8"/>
          <p:cNvSpPr/>
          <p:nvPr/>
        </p:nvSpPr>
        <p:spPr>
          <a:xfrm>
            <a:off x="3429000" y="201168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Pathway</a:t>
            </a:r>
          </a:p>
        </p:txBody>
      </p:sp>
      <p:sp>
        <p:nvSpPr>
          <p:cNvPr id="10" name="Rounded Rectangle 9"/>
          <p:cNvSpPr/>
          <p:nvPr/>
        </p:nvSpPr>
        <p:spPr>
          <a:xfrm>
            <a:off x="6217920" y="201168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Jobs</a:t>
            </a:r>
          </a:p>
        </p:txBody>
      </p:sp>
      <p:sp>
        <p:nvSpPr>
          <p:cNvPr id="11" name="Rounded Rectangle 10"/>
          <p:cNvSpPr/>
          <p:nvPr/>
        </p:nvSpPr>
        <p:spPr>
          <a:xfrm>
            <a:off x="9006839" y="201168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Procedure</a:t>
            </a:r>
          </a:p>
        </p:txBody>
      </p:sp>
      <p:sp>
        <p:nvSpPr>
          <p:cNvPr id="12" name="Rounded Rectangle 11"/>
          <p:cNvSpPr/>
          <p:nvPr/>
        </p:nvSpPr>
        <p:spPr>
          <a:xfrm>
            <a:off x="640080" y="288036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Study plan</a:t>
            </a:r>
          </a:p>
        </p:txBody>
      </p:sp>
      <p:sp>
        <p:nvSpPr>
          <p:cNvPr id="13" name="Rounded Rectangle 12"/>
          <p:cNvSpPr/>
          <p:nvPr/>
        </p:nvSpPr>
        <p:spPr>
          <a:xfrm>
            <a:off x="3429000" y="288036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Journey</a:t>
            </a:r>
          </a:p>
        </p:txBody>
      </p:sp>
      <p:sp>
        <p:nvSpPr>
          <p:cNvPr id="14" name="Rounded Rectangle 13"/>
          <p:cNvSpPr/>
          <p:nvPr/>
        </p:nvSpPr>
        <p:spPr>
          <a:xfrm>
            <a:off x="6217920" y="288036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Proof</a:t>
            </a:r>
          </a:p>
        </p:txBody>
      </p:sp>
      <p:sp>
        <p:nvSpPr>
          <p:cNvPr id="15" name="Rounded Rectangle 14"/>
          <p:cNvSpPr/>
          <p:nvPr/>
        </p:nvSpPr>
        <p:spPr>
          <a:xfrm>
            <a:off x="9006839" y="2880360"/>
            <a:ext cx="2606040" cy="685800"/>
          </a:xfrm>
          <a:prstGeom prst="roundRect">
            <a:avLst/>
          </a:prstGeom>
          <a:solidFill>
            <a:srgbClr val="ECEDF5"/>
          </a:solidFill>
          <a:ln w="1587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300" b="1">
                <a:solidFill>
                  <a:srgbClr val="1F2150"/>
                </a:solidFill>
                <a:latin typeface="Calibri"/>
              </a:rPr>
              <a:t>Ask AI</a:t>
            </a:r>
          </a:p>
        </p:txBody>
      </p:sp>
      <p:sp>
        <p:nvSpPr>
          <p:cNvPr id="16" name="Rounded Rectangle 15"/>
          <p:cNvSpPr/>
          <p:nvPr/>
        </p:nvSpPr>
        <p:spPr>
          <a:xfrm>
            <a:off x="640080" y="3977639"/>
            <a:ext cx="5349240" cy="173736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800" b="1">
                <a:solidFill>
                  <a:srgbClr val="10B981"/>
                </a:solidFill>
                <a:latin typeface="Calibri"/>
              </a:rPr>
              <a:t>🌐 Multilingual</a:t>
            </a:r>
          </a:p>
          <a:p>
            <a:pPr algn="ctr"/>
            <a:r>
              <a:rPr sz="1300" b="0">
                <a:solidFill>
                  <a:srgbClr val="15163A"/>
                </a:solidFill>
                <a:latin typeface="Calibri"/>
              </a:rPr>
              <a:t>Content AND chat in English / हिन्दी / 日本語 — for the Japan finale</a:t>
            </a:r>
          </a:p>
        </p:txBody>
      </p:sp>
      <p:sp>
        <p:nvSpPr>
          <p:cNvPr id="17" name="Rounded Rectangle 16"/>
          <p:cNvSpPr/>
          <p:nvPr/>
        </p:nvSpPr>
        <p:spPr>
          <a:xfrm>
            <a:off x="6172200" y="3977639"/>
            <a:ext cx="5349240" cy="1737360"/>
          </a:xfrm>
          <a:prstGeom prst="roundRect">
            <a:avLst/>
          </a:prstGeom>
          <a:solidFill>
            <a:srgbClr val="FFF1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800" b="1">
                <a:solidFill>
                  <a:srgbClr val="FF9500"/>
                </a:solidFill>
                <a:latin typeface="Calibri"/>
              </a:rPr>
              <a:t>🔐 Private by design</a:t>
            </a:r>
          </a:p>
          <a:p>
            <a:pPr algn="ctr"/>
            <a:r>
              <a:rPr sz="1300" b="0">
                <a:solidFill>
                  <a:srgbClr val="15163A"/>
                </a:solidFill>
                <a:latin typeface="Calibri"/>
              </a:rPr>
              <a:t>Encryption at rest · no PII in logs · honest disclaimer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1F2150"/>
                </a:solidFill>
                <a:latin typeface="Calibri"/>
              </a:rPr>
              <a:t>REAL-WORLD IMPACT</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A true bridge — who it helps</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11</a:t>
            </a:r>
          </a:p>
        </p:txBody>
      </p:sp>
      <p:sp>
        <p:nvSpPr>
          <p:cNvPr id="7" name="Rounded Rectangle 6"/>
          <p:cNvSpPr/>
          <p:nvPr/>
        </p:nvSpPr>
        <p:spPr>
          <a:xfrm>
            <a:off x="640080" y="2011680"/>
            <a:ext cx="3017520" cy="2377440"/>
          </a:xfrm>
          <a:prstGeom prst="roundRect">
            <a:avLst/>
          </a:prstGeom>
          <a:solidFill>
            <a:srgbClr val="FCE7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000" b="1">
                <a:solidFill>
                  <a:srgbClr val="E11D54"/>
                </a:solidFill>
                <a:latin typeface="Calibri"/>
              </a:rPr>
              <a:t>🇮🇳 India</a:t>
            </a:r>
          </a:p>
          <a:p>
            <a:pPr algn="ctr"/>
            <a:r>
              <a:rPr sz="1300" b="0">
                <a:solidFill>
                  <a:srgbClr val="15163A"/>
                </a:solidFill>
                <a:latin typeface="Calibri"/>
              </a:rPr>
              <a:t>Formal overseas jobs + remittances; an alternative to scam middlemen</a:t>
            </a:r>
          </a:p>
        </p:txBody>
      </p:sp>
      <p:sp>
        <p:nvSpPr>
          <p:cNvPr id="8" name="Rounded Rectangle 7"/>
          <p:cNvSpPr/>
          <p:nvPr/>
        </p:nvSpPr>
        <p:spPr>
          <a:xfrm>
            <a:off x="8503920" y="2011680"/>
            <a:ext cx="3017520" cy="237744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2000" b="1">
                <a:solidFill>
                  <a:srgbClr val="1F2150"/>
                </a:solidFill>
                <a:latin typeface="Calibri"/>
              </a:rPr>
              <a:t>🇯🇵 Japan</a:t>
            </a:r>
          </a:p>
          <a:p>
            <a:pPr algn="ctr"/>
            <a:r>
              <a:rPr sz="1300" b="0">
                <a:solidFill>
                  <a:srgbClr val="15163A"/>
                </a:solidFill>
                <a:latin typeface="Calibri"/>
              </a:rPr>
              <a:t>Fills its designated-sector labour shortage with vetted talent</a:t>
            </a:r>
          </a:p>
        </p:txBody>
      </p:sp>
      <p:sp>
        <p:nvSpPr>
          <p:cNvPr id="9" name="Block Arc 8"/>
          <p:cNvSpPr/>
          <p:nvPr/>
        </p:nvSpPr>
        <p:spPr>
          <a:xfrm>
            <a:off x="3657600" y="1828800"/>
            <a:ext cx="4846320" cy="1554480"/>
          </a:xfrm>
          <a:prstGeom prst="blockArc">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23360" y="3246120"/>
            <a:ext cx="4114800" cy="914400"/>
          </a:xfrm>
          <a:prstGeom prst="round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800" b="1">
                <a:solidFill>
                  <a:srgbClr val="FFFFFF"/>
                </a:solidFill>
                <a:latin typeface="Calibri"/>
              </a:rPr>
              <a:t>Kakehashi</a:t>
            </a:r>
          </a:p>
          <a:p>
            <a:pPr algn="ctr"/>
            <a:r>
              <a:rPr sz="1100" b="0">
                <a:solidFill>
                  <a:srgbClr val="FF9BB3"/>
                </a:solidFill>
                <a:latin typeface="Calibri"/>
              </a:rPr>
              <a:t>the cited, honest path</a:t>
            </a:r>
          </a:p>
        </p:txBody>
      </p:sp>
      <p:sp>
        <p:nvSpPr>
          <p:cNvPr id="11" name="Rounded Rectangle 10"/>
          <p:cNvSpPr/>
          <p:nvPr/>
        </p:nvSpPr>
        <p:spPr>
          <a:xfrm>
            <a:off x="640080" y="4754880"/>
            <a:ext cx="10927080" cy="100584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400" b="1">
                <a:solidFill>
                  <a:srgbClr val="15163A"/>
                </a:solidFill>
                <a:latin typeface="Calibri"/>
              </a:rPr>
              <a:t>The worker gets a trustworthy plan + protection from recruitment-fee scams (official FREE job-matching).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182880"/>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320040"/>
          </a:xfrm>
          <a:prstGeom prst="rect">
            <a:avLst/>
          </a:prstGeom>
          <a:noFill/>
        </p:spPr>
        <p:txBody>
          <a:bodyPr wrap="square" anchor="ctr" lIns="88900" rIns="88900" tIns="38100" bIns="38100">
            <a:spAutoFit/>
          </a:bodyPr>
          <a:lstStyle/>
          <a:p>
            <a:pPr algn="l"/>
            <a:r>
              <a:rPr sz="1200" b="1">
                <a:solidFill>
                  <a:srgbClr val="FF9500"/>
                </a:solidFill>
                <a:latin typeface="Calibri"/>
              </a:rPr>
              <a:t>BUILT TO LAST</a:t>
            </a:r>
          </a:p>
        </p:txBody>
      </p:sp>
      <p:sp>
        <p:nvSpPr>
          <p:cNvPr id="4" name="TextBox 3"/>
          <p:cNvSpPr txBox="1"/>
          <p:nvPr/>
        </p:nvSpPr>
        <p:spPr>
          <a:xfrm>
            <a:off x="548640" y="658368"/>
            <a:ext cx="11064240" cy="914400"/>
          </a:xfrm>
          <a:prstGeom prst="rect">
            <a:avLst/>
          </a:prstGeom>
          <a:noFill/>
        </p:spPr>
        <p:txBody>
          <a:bodyPr wrap="square" anchor="ctr" lIns="88900" rIns="88900" tIns="38100" bIns="38100">
            <a:spAutoFit/>
          </a:bodyPr>
          <a:lstStyle/>
          <a:p>
            <a:pPr algn="l"/>
            <a:r>
              <a:rPr sz="3000" b="1">
                <a:solidFill>
                  <a:srgbClr val="1F2150"/>
                </a:solidFill>
                <a:latin typeface="Calibri"/>
              </a:rPr>
              <a:t>Engineering, scalability &amp; honest roadmap</a:t>
            </a:r>
          </a:p>
        </p:txBody>
      </p:sp>
      <p:sp>
        <p:nvSpPr>
          <p:cNvPr id="5" name="TextBox 4"/>
          <p:cNvSpPr txBox="1"/>
          <p:nvPr/>
        </p:nvSpPr>
        <p:spPr>
          <a:xfrm>
            <a:off x="548640" y="6419088"/>
            <a:ext cx="8229600" cy="365760"/>
          </a:xfrm>
          <a:prstGeom prst="rect">
            <a:avLst/>
          </a:prstGeom>
          <a:noFill/>
        </p:spPr>
        <p:txBody>
          <a:bodyPr wrap="square" anchor="ctr" lIns="88900" rIns="88900" tIns="38100" bIns="38100">
            <a:spAutoFit/>
          </a:bodyPr>
          <a:lstStyle/>
          <a:p>
            <a:pPr algn="l"/>
            <a:r>
              <a:rPr sz="1000" b="0">
                <a:solidFill>
                  <a:srgbClr val="707084"/>
                </a:solidFill>
                <a:latin typeface="Calibri"/>
              </a:rPr>
              <a:t>Kakehashi 架け橋  ·  FAR AWAY 2026  ·  Agentic &amp; Autonomous Systems</a:t>
            </a:r>
          </a:p>
        </p:txBody>
      </p:sp>
      <p:sp>
        <p:nvSpPr>
          <p:cNvPr id="6" name="TextBox 5"/>
          <p:cNvSpPr txBox="1"/>
          <p:nvPr/>
        </p:nvSpPr>
        <p:spPr>
          <a:xfrm>
            <a:off x="11338560" y="6419088"/>
            <a:ext cx="548640" cy="365760"/>
          </a:xfrm>
          <a:prstGeom prst="rect">
            <a:avLst/>
          </a:prstGeom>
          <a:noFill/>
        </p:spPr>
        <p:txBody>
          <a:bodyPr wrap="square" anchor="ctr" lIns="88900" rIns="88900" tIns="38100" bIns="38100">
            <a:spAutoFit/>
          </a:bodyPr>
          <a:lstStyle/>
          <a:p>
            <a:pPr algn="r"/>
            <a:r>
              <a:rPr sz="1000" b="0">
                <a:solidFill>
                  <a:srgbClr val="707084"/>
                </a:solidFill>
                <a:latin typeface="Calibri"/>
              </a:rPr>
              <a:t>12</a:t>
            </a:r>
          </a:p>
        </p:txBody>
      </p:sp>
      <p:sp>
        <p:nvSpPr>
          <p:cNvPr id="7" name="TextBox 6"/>
          <p:cNvSpPr txBox="1"/>
          <p:nvPr/>
        </p:nvSpPr>
        <p:spPr>
          <a:xfrm>
            <a:off x="548640" y="1417320"/>
            <a:ext cx="10972800" cy="365760"/>
          </a:xfrm>
          <a:prstGeom prst="rect">
            <a:avLst/>
          </a:prstGeom>
          <a:noFill/>
        </p:spPr>
        <p:txBody>
          <a:bodyPr wrap="square" anchor="ctr" lIns="88900" rIns="88900" tIns="38100" bIns="38100">
            <a:spAutoFit/>
          </a:bodyPr>
          <a:lstStyle/>
          <a:p>
            <a:pPr algn="ctr"/>
            <a:r>
              <a:rPr sz="1400" b="1">
                <a:solidFill>
                  <a:srgbClr val="1F2150"/>
                </a:solidFill>
                <a:latin typeface="Calibri"/>
              </a:rPr>
              <a:t>Next.js · FastAPI (SSE) · Groq gpt-oss-120b (multilingual) · BM25 RAG · Fernet (AES)</a:t>
            </a:r>
          </a:p>
        </p:txBody>
      </p:sp>
      <p:sp>
        <p:nvSpPr>
          <p:cNvPr id="8" name="Rounded Rectangle 7"/>
          <p:cNvSpPr/>
          <p:nvPr/>
        </p:nvSpPr>
        <p:spPr>
          <a:xfrm>
            <a:off x="640080" y="2103120"/>
            <a:ext cx="10927080" cy="914400"/>
          </a:xfrm>
          <a:prstGeom prst="roundRect">
            <a:avLst/>
          </a:prstGeom>
          <a:solidFill>
            <a:srgbClr val="ECED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38100" bIns="38100"/>
          <a:lstStyle/>
          <a:p>
            <a:pPr algn="ctr"/>
            <a:r>
              <a:rPr sz="1400" b="0">
                <a:solidFill>
                  <a:srgbClr val="15163A"/>
                </a:solidFill>
                <a:latin typeface="Calibri"/>
              </a:rPr>
              <a:t>UI-agnostic core with swappable agents &amp; tools — add a sector, agent, or visa route without a rewrite.</a:t>
            </a:r>
          </a:p>
        </p:txBody>
      </p:sp>
      <p:sp>
        <p:nvSpPr>
          <p:cNvPr id="9" name="Rounded Rectangle 8"/>
          <p:cNvSpPr/>
          <p:nvPr/>
        </p:nvSpPr>
        <p:spPr>
          <a:xfrm>
            <a:off x="640080" y="3291840"/>
            <a:ext cx="5349240" cy="2286000"/>
          </a:xfrm>
          <a:prstGeom prst="roundRect">
            <a:avLst/>
          </a:prstGeom>
          <a:solidFill>
            <a:srgbClr val="E3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74720"/>
            <a:ext cx="4937760" cy="365760"/>
          </a:xfrm>
          <a:prstGeom prst="rect">
            <a:avLst/>
          </a:prstGeom>
          <a:noFill/>
        </p:spPr>
        <p:txBody>
          <a:bodyPr wrap="square" anchor="ctr" lIns="88900" rIns="88900" tIns="38100" bIns="38100">
            <a:spAutoFit/>
          </a:bodyPr>
          <a:lstStyle/>
          <a:p>
            <a:pPr algn="l"/>
            <a:r>
              <a:rPr sz="1600" b="1">
                <a:solidFill>
                  <a:srgbClr val="10B981"/>
                </a:solidFill>
                <a:latin typeface="Calibri"/>
              </a:rPr>
              <a:t>✅ Live now</a:t>
            </a:r>
          </a:p>
        </p:txBody>
      </p:sp>
      <p:sp>
        <p:nvSpPr>
          <p:cNvPr id="11" name="TextBox 10"/>
          <p:cNvSpPr txBox="1"/>
          <p:nvPr/>
        </p:nvSpPr>
        <p:spPr>
          <a:xfrm>
            <a:off x="868680" y="3931920"/>
            <a:ext cx="4937760" cy="1554480"/>
          </a:xfrm>
          <a:prstGeom prst="rect">
            <a:avLst/>
          </a:prstGeom>
          <a:noFill/>
        </p:spPr>
        <p:txBody>
          <a:bodyPr wrap="square" anchor="ctr" lIns="88900" rIns="88900" tIns="38100" bIns="38100">
            <a:spAutoFit/>
          </a:bodyPr>
          <a:lstStyle/>
          <a:p>
            <a:pPr algn="l"/>
            <a:r>
              <a:rPr sz="1200" b="0">
                <a:solidFill>
                  <a:srgbClr val="15163A"/>
                </a:solidFill>
                <a:latin typeface="Calibri"/>
              </a:rPr>
              <a:t>Pathway · Jobs (real) · Procedure · Prep · Synthesis</a:t>
            </a:r>
          </a:p>
          <a:p>
            <a:pPr algn="l"/>
            <a:r>
              <a:rPr sz="1200" b="0">
                <a:solidFill>
                  <a:srgbClr val="15163A"/>
                </a:solidFill>
                <a:latin typeface="Calibri"/>
              </a:rPr>
              <a:t>Chat · Proof · save/share · PDF · EN/HI/JA</a:t>
            </a:r>
          </a:p>
          <a:p>
            <a:pPr algn="l"/>
            <a:r>
              <a:rPr sz="1200" b="0">
                <a:solidFill>
                  <a:srgbClr val="15163A"/>
                </a:solidFill>
                <a:latin typeface="Calibri"/>
              </a:rPr>
              <a:t>Adaptive visa routing</a:t>
            </a:r>
          </a:p>
        </p:txBody>
      </p:sp>
      <p:sp>
        <p:nvSpPr>
          <p:cNvPr id="12" name="Rounded Rectangle 11"/>
          <p:cNvSpPr/>
          <p:nvPr/>
        </p:nvSpPr>
        <p:spPr>
          <a:xfrm>
            <a:off x="6172200" y="3291840"/>
            <a:ext cx="5349240" cy="2286000"/>
          </a:xfrm>
          <a:prstGeom prst="roundRect">
            <a:avLst/>
          </a:prstGeom>
          <a:solidFill>
            <a:srgbClr val="FF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474720"/>
            <a:ext cx="4937760" cy="365760"/>
          </a:xfrm>
          <a:prstGeom prst="rect">
            <a:avLst/>
          </a:prstGeom>
          <a:noFill/>
        </p:spPr>
        <p:txBody>
          <a:bodyPr wrap="square" anchor="ctr" lIns="88900" rIns="88900" tIns="38100" bIns="38100">
            <a:spAutoFit/>
          </a:bodyPr>
          <a:lstStyle/>
          <a:p>
            <a:pPr algn="l"/>
            <a:r>
              <a:rPr sz="1600" b="1">
                <a:solidFill>
                  <a:srgbClr val="FF9500"/>
                </a:solidFill>
                <a:latin typeface="Calibri"/>
              </a:rPr>
              <a:t>🔜 Roadmap (wired, marked)</a:t>
            </a:r>
          </a:p>
        </p:txBody>
      </p:sp>
      <p:sp>
        <p:nvSpPr>
          <p:cNvPr id="14" name="TextBox 13"/>
          <p:cNvSpPr txBox="1"/>
          <p:nvPr/>
        </p:nvSpPr>
        <p:spPr>
          <a:xfrm>
            <a:off x="6400800" y="3931920"/>
            <a:ext cx="4937760" cy="1554480"/>
          </a:xfrm>
          <a:prstGeom prst="rect">
            <a:avLst/>
          </a:prstGeom>
          <a:noFill/>
        </p:spPr>
        <p:txBody>
          <a:bodyPr wrap="square" anchor="ctr" lIns="88900" rIns="88900" tIns="38100" bIns="38100">
            <a:spAutoFit/>
          </a:bodyPr>
          <a:lstStyle/>
          <a:p>
            <a:pPr algn="l"/>
            <a:r>
              <a:rPr sz="1200" b="0">
                <a:solidFill>
                  <a:srgbClr val="15163A"/>
                </a:solidFill>
                <a:latin typeface="Calibri"/>
              </a:rPr>
              <a:t>Amadeus flights (paid tier)</a:t>
            </a:r>
          </a:p>
          <a:p>
            <a:pPr algn="l"/>
            <a:r>
              <a:rPr sz="1200" b="0">
                <a:solidFill>
                  <a:srgbClr val="15163A"/>
                </a:solidFill>
                <a:latin typeface="Calibri"/>
              </a:rPr>
              <a:t>e-Stat 'Demand' charts</a:t>
            </a:r>
          </a:p>
          <a:p>
            <a:pPr algn="l"/>
            <a:r>
              <a:rPr sz="1200" b="0">
                <a:solidFill>
                  <a:srgbClr val="15163A"/>
                </a:solidFill>
                <a:latin typeface="Calibri"/>
              </a:rPr>
              <a:t>Recruiter-scam detection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1F2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26480"/>
            <a:ext cx="12252960" cy="822960"/>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11680"/>
            <a:ext cx="10607040" cy="1005840"/>
          </a:xfrm>
          <a:prstGeom prst="rect">
            <a:avLst/>
          </a:prstGeom>
          <a:noFill/>
        </p:spPr>
        <p:txBody>
          <a:bodyPr wrap="square" anchor="ctr" lIns="88900" rIns="88900" tIns="38100" bIns="38100">
            <a:spAutoFit/>
          </a:bodyPr>
          <a:lstStyle/>
          <a:p>
            <a:pPr algn="ctr"/>
            <a:r>
              <a:rPr sz="4000" b="1">
                <a:solidFill>
                  <a:srgbClr val="FFFFFF"/>
                </a:solidFill>
                <a:latin typeface="Calibri"/>
              </a:rPr>
              <a:t>A bridge between India and Japan.</a:t>
            </a:r>
          </a:p>
        </p:txBody>
      </p:sp>
      <p:sp>
        <p:nvSpPr>
          <p:cNvPr id="5" name="TextBox 4"/>
          <p:cNvSpPr txBox="1"/>
          <p:nvPr/>
        </p:nvSpPr>
        <p:spPr>
          <a:xfrm>
            <a:off x="822960" y="3200400"/>
            <a:ext cx="10515600" cy="1645920"/>
          </a:xfrm>
          <a:prstGeom prst="rect">
            <a:avLst/>
          </a:prstGeom>
          <a:noFill/>
        </p:spPr>
        <p:txBody>
          <a:bodyPr wrap="square" anchor="ctr" lIns="88900" rIns="88900" tIns="38100" bIns="38100">
            <a:spAutoFit/>
          </a:bodyPr>
          <a:lstStyle/>
          <a:p>
            <a:pPr algn="l"/>
            <a:r>
              <a:rPr sz="2200" b="0">
                <a:solidFill>
                  <a:srgbClr val="FF9BB3"/>
                </a:solidFill>
                <a:latin typeface="Calibri"/>
              </a:rPr>
              <a:t>Real data. Cited sources. Measured proof. Genuinely autonomous.</a:t>
            </a:r>
          </a:p>
          <a:p>
            <a:pPr algn="l"/>
            <a:r>
              <a:rPr sz="1800" b="0">
                <a:solidFill>
                  <a:srgbClr val="FFFFFF"/>
                </a:solidFill>
                <a:latin typeface="Calibri"/>
              </a:rPr>
              <a:t>🔗  github.com/roybishal362/Far_Away_Hackthon</a:t>
            </a:r>
          </a:p>
          <a:p>
            <a:pPr algn="l"/>
            <a:r>
              <a:rPr sz="1400" b="0">
                <a:solidFill>
                  <a:srgbClr val="CFD0E0"/>
                </a:solidFill>
                <a:latin typeface="Calibri"/>
              </a:rPr>
              <a:t>Working demo  ·  add your live URL here</a:t>
            </a:r>
          </a:p>
        </p:txBody>
      </p:sp>
      <p:sp>
        <p:nvSpPr>
          <p:cNvPr id="6" name="TextBox 5"/>
          <p:cNvSpPr txBox="1"/>
          <p:nvPr/>
        </p:nvSpPr>
        <p:spPr>
          <a:xfrm>
            <a:off x="777240" y="6199632"/>
            <a:ext cx="10607040" cy="548640"/>
          </a:xfrm>
          <a:prstGeom prst="rect">
            <a:avLst/>
          </a:prstGeom>
          <a:noFill/>
        </p:spPr>
        <p:txBody>
          <a:bodyPr wrap="square" anchor="ctr" lIns="88900" rIns="88900" tIns="38100" bIns="38100">
            <a:spAutoFit/>
          </a:bodyPr>
          <a:lstStyle/>
          <a:p>
            <a:pPr algn="l"/>
            <a:r>
              <a:rPr sz="1400" b="1">
                <a:solidFill>
                  <a:srgbClr val="FFFFFF"/>
                </a:solidFill>
                <a:latin typeface="Calibri"/>
              </a:rPr>
              <a:t>Kakehashi 架け橋  —  FAR AWAY 2026 · Agentic &amp; Autonomous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